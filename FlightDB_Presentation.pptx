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E5B95-BA6E-4951-9B7E-0C36492756D5}" v="1" dt="2026-10-13T19:59:42.5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wmya R" userId="ad0b4a24c9e9d806" providerId="LiveId" clId="{9B7D84C8-4125-4BEC-91B9-D0DE0E182A68}"/>
    <pc:docChg chg="undo custSel modSld">
      <pc:chgData name="Sowmya R" userId="ad0b4a24c9e9d806" providerId="LiveId" clId="{9B7D84C8-4125-4BEC-91B9-D0DE0E182A68}" dt="2026-10-13T20:02:50.462" v="65" actId="14100"/>
      <pc:docMkLst>
        <pc:docMk/>
      </pc:docMkLst>
      <pc:sldChg chg="modSp mod">
        <pc:chgData name="Sowmya R" userId="ad0b4a24c9e9d806" providerId="LiveId" clId="{9B7D84C8-4125-4BEC-91B9-D0DE0E182A68}" dt="2026-10-13T19:43:20.440" v="3" actId="20577"/>
        <pc:sldMkLst>
          <pc:docMk/>
          <pc:sldMk cId="0" sldId="264"/>
        </pc:sldMkLst>
        <pc:spChg chg="mod">
          <ac:chgData name="Sowmya R" userId="ad0b4a24c9e9d806" providerId="LiveId" clId="{9B7D84C8-4125-4BEC-91B9-D0DE0E182A68}" dt="2026-10-13T19:43:20.440" v="3" actId="20577"/>
          <ac:spMkLst>
            <pc:docMk/>
            <pc:sldMk cId="0" sldId="264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3:25.521" v="4" actId="20577"/>
        <pc:sldMkLst>
          <pc:docMk/>
          <pc:sldMk cId="0" sldId="265"/>
        </pc:sldMkLst>
        <pc:spChg chg="mod">
          <ac:chgData name="Sowmya R" userId="ad0b4a24c9e9d806" providerId="LiveId" clId="{9B7D84C8-4125-4BEC-91B9-D0DE0E182A68}" dt="2026-10-13T19:43:25.521" v="4" actId="20577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3:32.169" v="6" actId="20577"/>
        <pc:sldMkLst>
          <pc:docMk/>
          <pc:sldMk cId="0" sldId="266"/>
        </pc:sldMkLst>
        <pc:spChg chg="mod">
          <ac:chgData name="Sowmya R" userId="ad0b4a24c9e9d806" providerId="LiveId" clId="{9B7D84C8-4125-4BEC-91B9-D0DE0E182A68}" dt="2026-10-13T19:43:32.169" v="6" actId="20577"/>
          <ac:spMkLst>
            <pc:docMk/>
            <pc:sldMk cId="0" sldId="266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3:37.207" v="8" actId="20577"/>
        <pc:sldMkLst>
          <pc:docMk/>
          <pc:sldMk cId="0" sldId="267"/>
        </pc:sldMkLst>
        <pc:spChg chg="mod">
          <ac:chgData name="Sowmya R" userId="ad0b4a24c9e9d806" providerId="LiveId" clId="{9B7D84C8-4125-4BEC-91B9-D0DE0E182A68}" dt="2026-10-13T19:43:37.207" v="8" actId="20577"/>
          <ac:spMkLst>
            <pc:docMk/>
            <pc:sldMk cId="0" sldId="267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3:41.151" v="10" actId="20577"/>
        <pc:sldMkLst>
          <pc:docMk/>
          <pc:sldMk cId="0" sldId="268"/>
        </pc:sldMkLst>
        <pc:spChg chg="mod">
          <ac:chgData name="Sowmya R" userId="ad0b4a24c9e9d806" providerId="LiveId" clId="{9B7D84C8-4125-4BEC-91B9-D0DE0E182A68}" dt="2026-10-13T19:43:41.151" v="10" actId="20577"/>
          <ac:spMkLst>
            <pc:docMk/>
            <pc:sldMk cId="0" sldId="268"/>
            <ac:spMk id="5" creationId="{00000000-0000-0000-0000-000000000000}"/>
          </ac:spMkLst>
        </pc:spChg>
      </pc:sldChg>
      <pc:sldChg chg="addSp delSp modSp mod">
        <pc:chgData name="Sowmya R" userId="ad0b4a24c9e9d806" providerId="LiveId" clId="{9B7D84C8-4125-4BEC-91B9-D0DE0E182A68}" dt="2026-10-13T20:01:47.369" v="64" actId="1076"/>
        <pc:sldMkLst>
          <pc:docMk/>
          <pc:sldMk cId="0" sldId="269"/>
        </pc:sldMkLst>
        <pc:spChg chg="mod">
          <ac:chgData name="Sowmya R" userId="ad0b4a24c9e9d806" providerId="LiveId" clId="{9B7D84C8-4125-4BEC-91B9-D0DE0E182A68}" dt="2026-10-13T19:43:45.813" v="12" actId="20577"/>
          <ac:spMkLst>
            <pc:docMk/>
            <pc:sldMk cId="0" sldId="269"/>
            <ac:spMk id="5" creationId="{00000000-0000-0000-0000-000000000000}"/>
          </ac:spMkLst>
        </pc:spChg>
        <pc:spChg chg="del">
          <ac:chgData name="Sowmya R" userId="ad0b4a24c9e9d806" providerId="LiveId" clId="{9B7D84C8-4125-4BEC-91B9-D0DE0E182A68}" dt="2026-10-13T20:01:34.874" v="60" actId="478"/>
          <ac:spMkLst>
            <pc:docMk/>
            <pc:sldMk cId="0" sldId="269"/>
            <ac:spMk id="6" creationId="{00000000-0000-0000-0000-000000000000}"/>
          </ac:spMkLst>
        </pc:spChg>
        <pc:spChg chg="mod">
          <ac:chgData name="Sowmya R" userId="ad0b4a24c9e9d806" providerId="LiveId" clId="{9B7D84C8-4125-4BEC-91B9-D0DE0E182A68}" dt="2026-10-13T20:01:41.535" v="62" actId="1076"/>
          <ac:spMkLst>
            <pc:docMk/>
            <pc:sldMk cId="0" sldId="269"/>
            <ac:spMk id="7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8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9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10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11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13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14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16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18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19" creationId="{00000000-0000-0000-0000-000000000000}"/>
          </ac:spMkLst>
        </pc:spChg>
        <pc:spChg chg="del">
          <ac:chgData name="Sowmya R" userId="ad0b4a24c9e9d806" providerId="LiveId" clId="{9B7D84C8-4125-4BEC-91B9-D0DE0E182A68}" dt="2026-10-13T20:00:11.422" v="47" actId="21"/>
          <ac:spMkLst>
            <pc:docMk/>
            <pc:sldMk cId="0" sldId="269"/>
            <ac:spMk id="20" creationId="{00000000-0000-0000-0000-000000000000}"/>
          </ac:spMkLst>
        </pc:spChg>
        <pc:spChg chg="del">
          <ac:chgData name="Sowmya R" userId="ad0b4a24c9e9d806" providerId="LiveId" clId="{9B7D84C8-4125-4BEC-91B9-D0DE0E182A68}" dt="2026-10-13T19:59:49.281" v="42" actId="478"/>
          <ac:spMkLst>
            <pc:docMk/>
            <pc:sldMk cId="0" sldId="269"/>
            <ac:spMk id="22" creationId="{00000000-0000-0000-0000-000000000000}"/>
          </ac:spMkLst>
        </pc:spChg>
        <pc:spChg chg="add del mod">
          <ac:chgData name="Sowmya R" userId="ad0b4a24c9e9d806" providerId="LiveId" clId="{9B7D84C8-4125-4BEC-91B9-D0DE0E182A68}" dt="2026-10-13T19:59:43.726" v="41"/>
          <ac:spMkLst>
            <pc:docMk/>
            <pc:sldMk cId="0" sldId="269"/>
            <ac:spMk id="23" creationId="{B7EAE6DA-B90E-D604-09D7-15C7BF84BCE8}"/>
          </ac:spMkLst>
        </pc:spChg>
        <pc:picChg chg="add mod">
          <ac:chgData name="Sowmya R" userId="ad0b4a24c9e9d806" providerId="LiveId" clId="{9B7D84C8-4125-4BEC-91B9-D0DE0E182A68}" dt="2026-10-13T20:01:47.369" v="64" actId="1076"/>
          <ac:picMkLst>
            <pc:docMk/>
            <pc:sldMk cId="0" sldId="269"/>
            <ac:picMk id="25" creationId="{92FE0F72-505F-4C27-D444-DDFDAB5DAE54}"/>
          </ac:picMkLst>
        </pc:picChg>
      </pc:sldChg>
      <pc:sldChg chg="modSp mod">
        <pc:chgData name="Sowmya R" userId="ad0b4a24c9e9d806" providerId="LiveId" clId="{9B7D84C8-4125-4BEC-91B9-D0DE0E182A68}" dt="2026-10-13T19:43:50.241" v="14" actId="20577"/>
        <pc:sldMkLst>
          <pc:docMk/>
          <pc:sldMk cId="0" sldId="270"/>
        </pc:sldMkLst>
        <pc:spChg chg="mod">
          <ac:chgData name="Sowmya R" userId="ad0b4a24c9e9d806" providerId="LiveId" clId="{9B7D84C8-4125-4BEC-91B9-D0DE0E182A68}" dt="2026-10-13T19:43:50.241" v="14" actId="20577"/>
          <ac:spMkLst>
            <pc:docMk/>
            <pc:sldMk cId="0" sldId="270"/>
            <ac:spMk id="5" creationId="{00000000-0000-0000-0000-000000000000}"/>
          </ac:spMkLst>
        </pc:spChg>
      </pc:sldChg>
      <pc:sldChg chg="addSp delSp modSp mod">
        <pc:chgData name="Sowmya R" userId="ad0b4a24c9e9d806" providerId="LiveId" clId="{9B7D84C8-4125-4BEC-91B9-D0DE0E182A68}" dt="2026-10-13T20:02:50.462" v="65" actId="14100"/>
        <pc:sldMkLst>
          <pc:docMk/>
          <pc:sldMk cId="0" sldId="271"/>
        </pc:sldMkLst>
        <pc:spChg chg="mod">
          <ac:chgData name="Sowmya R" userId="ad0b4a24c9e9d806" providerId="LiveId" clId="{9B7D84C8-4125-4BEC-91B9-D0DE0E182A68}" dt="2026-10-13T19:43:56.546" v="16" actId="20577"/>
          <ac:spMkLst>
            <pc:docMk/>
            <pc:sldMk cId="0" sldId="271"/>
            <ac:spMk id="5" creationId="{00000000-0000-0000-0000-000000000000}"/>
          </ac:spMkLst>
        </pc:spChg>
        <pc:spChg chg="del">
          <ac:chgData name="Sowmya R" userId="ad0b4a24c9e9d806" providerId="LiveId" clId="{9B7D84C8-4125-4BEC-91B9-D0DE0E182A68}" dt="2026-10-13T19:50:23.568" v="27" actId="478"/>
          <ac:spMkLst>
            <pc:docMk/>
            <pc:sldMk cId="0" sldId="271"/>
            <ac:spMk id="46" creationId="{00000000-0000-0000-0000-000000000000}"/>
          </ac:spMkLst>
        </pc:spChg>
        <pc:spChg chg="del">
          <ac:chgData name="Sowmya R" userId="ad0b4a24c9e9d806" providerId="LiveId" clId="{9B7D84C8-4125-4BEC-91B9-D0DE0E182A68}" dt="2026-10-13T19:50:32.565" v="29" actId="478"/>
          <ac:spMkLst>
            <pc:docMk/>
            <pc:sldMk cId="0" sldId="271"/>
            <ac:spMk id="47" creationId="{00000000-0000-0000-0000-000000000000}"/>
          </ac:spMkLst>
        </pc:spChg>
        <pc:spChg chg="del">
          <ac:chgData name="Sowmya R" userId="ad0b4a24c9e9d806" providerId="LiveId" clId="{9B7D84C8-4125-4BEC-91B9-D0DE0E182A68}" dt="2026-10-13T19:50:26.963" v="28" actId="478"/>
          <ac:spMkLst>
            <pc:docMk/>
            <pc:sldMk cId="0" sldId="271"/>
            <ac:spMk id="48" creationId="{00000000-0000-0000-0000-000000000000}"/>
          </ac:spMkLst>
        </pc:spChg>
        <pc:spChg chg="add del 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54" creationId="{4397166F-92D0-C777-16FA-96B9D2AC230A}"/>
          </ac:spMkLst>
        </pc:spChg>
        <pc:spChg chg="add del 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58" creationId="{67C37AB6-2EDB-498E-A51E-708129E75B4D}"/>
          </ac:spMkLst>
        </pc:spChg>
        <pc:spChg chg="add del 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60" creationId="{D8D17586-A4BB-A59B-33E5-9AECC0F180C8}"/>
          </ac:spMkLst>
        </pc:spChg>
        <pc:spChg chg="add del 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896" creationId="{AA9C1211-C8AB-ADFC-E705-B6E17058CE78}"/>
          </ac:spMkLst>
        </pc:spChg>
        <pc:spChg chg="add del 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898" creationId="{D47C45DB-020C-3D9D-05D8-3F5885ABCD9E}"/>
          </ac:spMkLst>
        </pc:spChg>
        <pc:spChg chg="add del 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900" creationId="{D144E349-24BC-232D-D2C8-1C5A33BC332D}"/>
          </ac:spMkLst>
        </pc:spChg>
        <pc:spChg chg="add del 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905" creationId="{11F1C996-3A19-3AE0-694B-E12C795ECC86}"/>
          </ac:spMkLst>
        </pc:spChg>
        <pc:spChg chg="mod">
          <ac:chgData name="Sowmya R" userId="ad0b4a24c9e9d806" providerId="LiveId" clId="{9B7D84C8-4125-4BEC-91B9-D0DE0E182A68}" dt="2026-10-13T20:00:52.114" v="53" actId="14100"/>
          <ac:spMkLst>
            <pc:docMk/>
            <pc:sldMk cId="0" sldId="271"/>
            <ac:spMk id="907" creationId="{87ABDFD7-C320-FDC3-7371-FE75E4EE4B0C}"/>
          </ac:spMkLst>
        </pc:spChg>
        <pc:spChg chg="add del mod">
          <ac:chgData name="Sowmya R" userId="ad0b4a24c9e9d806" providerId="LiveId" clId="{9B7D84C8-4125-4BEC-91B9-D0DE0E182A68}" dt="2026-10-13T20:01:14.053" v="57" actId="1076"/>
          <ac:spMkLst>
            <pc:docMk/>
            <pc:sldMk cId="0" sldId="271"/>
            <ac:spMk id="909" creationId="{2F415355-8328-CAA4-E5E8-31E22344A21D}"/>
          </ac:spMkLst>
        </pc:spChg>
        <pc:spChg chg="add del mod">
          <ac:chgData name="Sowmya R" userId="ad0b4a24c9e9d806" providerId="LiveId" clId="{9B7D84C8-4125-4BEC-91B9-D0DE0E182A68}" dt="2026-10-13T20:00:39.196" v="52" actId="478"/>
          <ac:spMkLst>
            <pc:docMk/>
            <pc:sldMk cId="0" sldId="271"/>
            <ac:spMk id="911" creationId="{6519876A-92B2-A94C-0A24-0378730A6D4F}"/>
          </ac:spMkLst>
        </pc:spChg>
        <pc:spChg chg="add del mod">
          <ac:chgData name="Sowmya R" userId="ad0b4a24c9e9d806" providerId="LiveId" clId="{9B7D84C8-4125-4BEC-91B9-D0DE0E182A68}" dt="2026-10-13T20:02:50.462" v="65" actId="14100"/>
          <ac:spMkLst>
            <pc:docMk/>
            <pc:sldMk cId="0" sldId="271"/>
            <ac:spMk id="913" creationId="{5563A6C3-B058-BB82-5DFF-4539AAFAA547}"/>
          </ac:spMkLst>
        </pc:spChg>
        <pc:spChg chg="mod">
          <ac:chgData name="Sowmya R" userId="ad0b4a24c9e9d806" providerId="LiveId" clId="{9B7D84C8-4125-4BEC-91B9-D0DE0E182A68}" dt="2026-10-13T20:01:22.442" v="58" actId="1076"/>
          <ac:spMkLst>
            <pc:docMk/>
            <pc:sldMk cId="0" sldId="271"/>
            <ac:spMk id="915" creationId="{D528AA8F-4D08-721D-6E1A-237492118FBF}"/>
          </ac:spMkLst>
        </pc:spChg>
        <pc:picChg chg="add del">
          <ac:chgData name="Sowmya R" userId="ad0b4a24c9e9d806" providerId="LiveId" clId="{9B7D84C8-4125-4BEC-91B9-D0DE0E182A68}" dt="2026-10-13T19:52:14.966" v="32" actId="478"/>
          <ac:picMkLst>
            <pc:docMk/>
            <pc:sldMk cId="0" sldId="271"/>
            <ac:picMk id="50" creationId="{4CB74BC7-26D5-824A-6958-F27FD4149BA1}"/>
          </ac:picMkLst>
        </pc:picChg>
        <pc:picChg chg="add del mod">
          <ac:chgData name="Sowmya R" userId="ad0b4a24c9e9d806" providerId="LiveId" clId="{9B7D84C8-4125-4BEC-91B9-D0DE0E182A68}" dt="2026-10-13T19:58:58.004" v="38" actId="22"/>
          <ac:picMkLst>
            <pc:docMk/>
            <pc:sldMk cId="0" sldId="271"/>
            <ac:picMk id="52" creationId="{C26465A7-7A3A-9050-240A-A5358D516801}"/>
          </ac:picMkLst>
        </pc:picChg>
      </pc:sldChg>
      <pc:sldChg chg="modSp mod">
        <pc:chgData name="Sowmya R" userId="ad0b4a24c9e9d806" providerId="LiveId" clId="{9B7D84C8-4125-4BEC-91B9-D0DE0E182A68}" dt="2026-10-13T19:44:00.777" v="18" actId="20577"/>
        <pc:sldMkLst>
          <pc:docMk/>
          <pc:sldMk cId="0" sldId="272"/>
        </pc:sldMkLst>
        <pc:spChg chg="mod">
          <ac:chgData name="Sowmya R" userId="ad0b4a24c9e9d806" providerId="LiveId" clId="{9B7D84C8-4125-4BEC-91B9-D0DE0E182A68}" dt="2026-10-13T19:44:00.777" v="18" actId="20577"/>
          <ac:spMkLst>
            <pc:docMk/>
            <pc:sldMk cId="0" sldId="272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4:05.319" v="20" actId="20577"/>
        <pc:sldMkLst>
          <pc:docMk/>
          <pc:sldMk cId="0" sldId="273"/>
        </pc:sldMkLst>
        <pc:spChg chg="mod">
          <ac:chgData name="Sowmya R" userId="ad0b4a24c9e9d806" providerId="LiveId" clId="{9B7D84C8-4125-4BEC-91B9-D0DE0E182A68}" dt="2026-10-13T19:44:05.319" v="20" actId="20577"/>
          <ac:spMkLst>
            <pc:docMk/>
            <pc:sldMk cId="0" sldId="273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4:09.917" v="22" actId="20577"/>
        <pc:sldMkLst>
          <pc:docMk/>
          <pc:sldMk cId="0" sldId="274"/>
        </pc:sldMkLst>
        <pc:spChg chg="mod">
          <ac:chgData name="Sowmya R" userId="ad0b4a24c9e9d806" providerId="LiveId" clId="{9B7D84C8-4125-4BEC-91B9-D0DE0E182A68}" dt="2026-10-13T19:44:09.917" v="22" actId="20577"/>
          <ac:spMkLst>
            <pc:docMk/>
            <pc:sldMk cId="0" sldId="274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4:15.961" v="24" actId="20577"/>
        <pc:sldMkLst>
          <pc:docMk/>
          <pc:sldMk cId="0" sldId="275"/>
        </pc:sldMkLst>
        <pc:spChg chg="mod">
          <ac:chgData name="Sowmya R" userId="ad0b4a24c9e9d806" providerId="LiveId" clId="{9B7D84C8-4125-4BEC-91B9-D0DE0E182A68}" dt="2026-10-13T19:44:15.961" v="24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Sowmya R" userId="ad0b4a24c9e9d806" providerId="LiveId" clId="{9B7D84C8-4125-4BEC-91B9-D0DE0E182A68}" dt="2026-10-13T19:44:20.813" v="26" actId="20577"/>
        <pc:sldMkLst>
          <pc:docMk/>
          <pc:sldMk cId="0" sldId="276"/>
        </pc:sldMkLst>
        <pc:spChg chg="mod">
          <ac:chgData name="Sowmya R" userId="ad0b4a24c9e9d806" providerId="LiveId" clId="{9B7D84C8-4125-4BEC-91B9-D0DE0E182A68}" dt="2026-10-13T19:44:20.813" v="26" actId="20577"/>
          <ac:spMkLst>
            <pc:docMk/>
            <pc:sldMk cId="0" sldId="276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5551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4.png"/><Relationship Id="rId3" Type="http://schemas.openxmlformats.org/officeDocument/2006/relationships/image" Target="../media/image3.jp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6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3.jpg"/><Relationship Id="rId7" Type="http://schemas.openxmlformats.org/officeDocument/2006/relationships/image" Target="../media/image23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10.png"/><Relationship Id="rId5" Type="http://schemas.openxmlformats.org/officeDocument/2006/relationships/image" Target="../media/image21.png"/><Relationship Id="rId10" Type="http://schemas.openxmlformats.org/officeDocument/2006/relationships/image" Target="../media/image4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822960"/>
            <a:ext cx="3108960" cy="3108960"/>
          </a:xfrm>
          <a:prstGeom prst="ellipse">
            <a:avLst/>
          </a:prstGeom>
          <a:solidFill>
            <a:srgbClr val="6F8EAE">
              <a:alpha val="45000"/>
            </a:srgbClr>
          </a:solidFill>
          <a:ln w="12700">
            <a:solidFill>
              <a:srgbClr val="6F8EAE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383280"/>
            <a:ext cx="822960" cy="822960"/>
          </a:xfrm>
          <a:prstGeom prst="ellipse">
            <a:avLst/>
          </a:prstGeom>
          <a:solidFill>
            <a:srgbClr val="D8A431"/>
          </a:solidFill>
          <a:ln w="12700">
            <a:solidFill>
              <a:srgbClr val="D8A43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8A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CASE STUDY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058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BF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OrientDB: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FBF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Multi-Model NoSQL Database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FBF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(Graph + Document)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461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&amp; roll numbers: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[Aashika A – CB.SC.U4CSE25701] </a:t>
            </a:r>
          </a:p>
          <a:p>
            <a:pPr>
              <a:spcAft>
                <a:spcPts val="400"/>
              </a:spcAft>
            </a:pPr>
            <a:r>
              <a:rPr lang="en-US" sz="1050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 Soniya Taslim – CB.SC.U4CSE25711]  </a:t>
            </a:r>
          </a:p>
          <a:p>
            <a:pPr>
              <a:spcAft>
                <a:spcPts val="400"/>
              </a:spcAft>
            </a:pPr>
            <a:r>
              <a:rPr lang="en-US" sz="1050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[Sowmya R– CB.SC.U4CSE25756]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/ Subject: </a:t>
            </a:r>
            <a:r>
              <a:rPr lang="en-US" sz="1050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Management Systems</a:t>
            </a:r>
            <a:endParaRPr lang="en-US" sz="1050" dirty="0"/>
          </a:p>
        </p:txBody>
      </p:sp>
      <p:pic>
        <p:nvPicPr>
          <p:cNvPr id="901" name="Airport illustration" descr="Hand-drawn airport terminal, control tower and aeroplane on a dotted flight pat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051560"/>
            <a:ext cx="3291840" cy="30284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1 · INTRODUCTION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5486400" cy="105156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38912" y="960120"/>
            <a:ext cx="5340096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OrientDB?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multi-model NoSQL database in one engine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records linked directly to each other and is queried with an SQL-like language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5486400" cy="105156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" y="2103120"/>
            <a:ext cx="5340096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databases like OrientDB matter</a:t>
            </a:r>
            <a:endParaRPr lang="en-US" sz="1000" dirty="0"/>
          </a:p>
          <a:p>
            <a:pPr marL="171450" lvl="0" indent="-171450">
              <a:buSzPct val="11200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Object-oriented features: Supports classes, inheritance and records with identity.</a:t>
            </a:r>
          </a:p>
          <a:p>
            <a:pPr marL="171450" lvl="0" indent="-171450">
              <a:buSzPct val="11200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Key-value style access: Records can be retrieved using their unique record IDs.</a:t>
            </a:r>
          </a:p>
        </p:txBody>
      </p:sp>
      <p:sp>
        <p:nvSpPr>
          <p:cNvPr id="10" name="Shape 8"/>
          <p:cNvSpPr/>
          <p:nvPr/>
        </p:nvSpPr>
        <p:spPr>
          <a:xfrm>
            <a:off x="365760" y="3200400"/>
            <a:ext cx="5486400" cy="114300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8912" y="3246120"/>
            <a:ext cx="5340096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in real applications</a:t>
            </a:r>
            <a:endParaRPr lang="en-US" sz="1000" dirty="0"/>
          </a:p>
          <a:p>
            <a:pPr marL="171450" lvl="0" indent="-171450">
              <a:buSzPct val="10400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Document database: Stores data as documents containing fields and values.</a:t>
            </a:r>
          </a:p>
          <a:p>
            <a:pPr marL="171450" lvl="0" indent="-171450">
              <a:buSzPct val="10400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Graph database: Represents entities as vertices and their relationships as edges</a:t>
            </a:r>
            <a:r>
              <a:rPr lang="en-US" sz="900" dirty="0"/>
              <a:t>.</a:t>
            </a:r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743200" cy="342900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035040" y="1325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A4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of first release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· Open source (Apache 2.0) · Java-based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4023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9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orientdb.org, db-engines.com</a:t>
            </a:r>
            <a:endParaRPr lang="en-US" sz="75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54864"/>
            <a:ext cx="731520" cy="731520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2048256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1 · INTRODUCTION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OrientDB</a:t>
            </a: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 Models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65760" y="1154037"/>
            <a:ext cx="4114800" cy="3189363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8277" y="1381405"/>
            <a:ext cx="3968496" cy="2708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r>
              <a:rPr lang="en-US" sz="1000" b="1" dirty="0"/>
              <a:t>A. Document model</a:t>
            </a:r>
          </a:p>
          <a:p>
            <a:r>
              <a:rPr lang="en-US" sz="900" dirty="0"/>
              <a:t>A document is a collection of fields and values.</a:t>
            </a:r>
          </a:p>
          <a:p>
            <a:r>
              <a:rPr lang="en-US" sz="900" dirty="0"/>
              <a:t>It resembles a JSON object.</a:t>
            </a:r>
          </a:p>
          <a:p>
            <a:r>
              <a:rPr lang="en-US" sz="900" dirty="0"/>
              <a:t>For example, a passenger record could look like this</a:t>
            </a:r>
          </a:p>
          <a:p>
            <a:endParaRPr lang="en-US" sz="900" dirty="0"/>
          </a:p>
          <a:p>
            <a:endParaRPr lang="en-US" sz="900" dirty="0"/>
          </a:p>
          <a:p>
            <a:endParaRPr lang="en-US" sz="1000" dirty="0"/>
          </a:p>
          <a:p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1154037"/>
            <a:ext cx="4114800" cy="3189364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998930" y="1358703"/>
            <a:ext cx="3968496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r>
              <a:rPr lang="en-US" sz="1000" b="1" dirty="0"/>
              <a:t>B. Graph model</a:t>
            </a:r>
          </a:p>
          <a:p>
            <a:r>
              <a:rPr lang="en-US" sz="900" dirty="0"/>
              <a:t>A graph contains two main components:</a:t>
            </a:r>
          </a:p>
          <a:p>
            <a:pPr lvl="0"/>
            <a:r>
              <a:rPr lang="en-US" sz="900" dirty="0"/>
              <a:t>Vertex: An entity, such as a passenger, flight or aircraft.</a:t>
            </a:r>
          </a:p>
          <a:p>
            <a:pPr lvl="0"/>
            <a:r>
              <a:rPr lang="en-US" sz="900" dirty="0"/>
              <a:t>Edge: A relationship connecting vertices, </a:t>
            </a:r>
          </a:p>
          <a:p>
            <a:pPr lvl="0"/>
            <a:r>
              <a:rPr lang="en-US" sz="900" dirty="0"/>
              <a:t>such as a passenger booking a flight.</a:t>
            </a:r>
          </a:p>
          <a:p>
            <a:pPr lvl="0"/>
            <a:endParaRPr lang="en-US" sz="900" dirty="0"/>
          </a:p>
          <a:p>
            <a:pPr lvl="0"/>
            <a:endParaRPr lang="en-US" sz="900" dirty="0"/>
          </a:p>
          <a:p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from orientdb.org and db-engines.com; confirm exact versions/dates on the official site before presenting.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54864"/>
            <a:ext cx="1051560" cy="731922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3584448" cy="7772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3C5069-29EB-1597-9A75-E7DB222BEA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277" y="2246481"/>
            <a:ext cx="2113842" cy="111759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A7E5AEA-364E-98C9-604E-2AA204AB50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930" y="2250243"/>
            <a:ext cx="2177533" cy="11138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2 · DATABASE TYPE &amp;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Type &amp; Model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795888" y="887025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concept → OrientDB concept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035040" y="1298505"/>
            <a:ext cx="1371600" cy="50292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1298505"/>
            <a:ext cx="13716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046561" y="2813508"/>
            <a:ext cx="1371600" cy="50292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12967" y="2769213"/>
            <a:ext cx="13716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732361" y="1910813"/>
            <a:ext cx="0" cy="727578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6790207" y="216030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8A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(edge)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800599" y="3547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view: one passenger node linked to a flight node by an edge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4864"/>
            <a:ext cx="1188720" cy="707337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3584448" cy="77724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24DC66C-81B4-A503-AD4E-FBA5A3020B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310447"/>
              </p:ext>
            </p:extLst>
          </p:nvPr>
        </p:nvGraphicFramePr>
        <p:xfrm>
          <a:off x="288192" y="984454"/>
          <a:ext cx="4466688" cy="3494631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488896">
                  <a:extLst>
                    <a:ext uri="{9D8B030D-6E8A-4147-A177-3AD203B41FA5}">
                      <a16:colId xmlns:a16="http://schemas.microsoft.com/office/drawing/2014/main" val="1974183423"/>
                    </a:ext>
                  </a:extLst>
                </a:gridCol>
                <a:gridCol w="1488896">
                  <a:extLst>
                    <a:ext uri="{9D8B030D-6E8A-4147-A177-3AD203B41FA5}">
                      <a16:colId xmlns:a16="http://schemas.microsoft.com/office/drawing/2014/main" val="3259938432"/>
                    </a:ext>
                  </a:extLst>
                </a:gridCol>
                <a:gridCol w="1488896">
                  <a:extLst>
                    <a:ext uri="{9D8B030D-6E8A-4147-A177-3AD203B41FA5}">
                      <a16:colId xmlns:a16="http://schemas.microsoft.com/office/drawing/2014/main" val="2315935319"/>
                    </a:ext>
                  </a:extLst>
                </a:gridCol>
              </a:tblGrid>
              <a:tr h="1829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 err="1"/>
                        <a:t>OrientDB</a:t>
                      </a:r>
                      <a:r>
                        <a:rPr lang="en-US" sz="900" dirty="0"/>
                        <a:t> 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Airport 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3136271"/>
                  </a:ext>
                </a:extLst>
              </a:tr>
              <a:tr h="323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Database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The complete collection of your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Airport DB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401803"/>
                  </a:ext>
                </a:extLst>
              </a:tr>
              <a:tr h="2650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A category/type of records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Passenger, Flight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424384"/>
                  </a:ext>
                </a:extLst>
              </a:tr>
              <a:tr h="2650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Record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One individual stored 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One passenger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5726167"/>
                  </a:ext>
                </a:extLst>
              </a:tr>
              <a:tr h="2650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A field belonging to a 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passengerName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563275"/>
                  </a:ext>
                </a:extLst>
              </a:tr>
              <a:tr h="381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Cluster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Physical/logical storage location for records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Storage for passenger records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3305483"/>
                  </a:ext>
                </a:extLst>
              </a:tr>
              <a:tr h="2067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Unique record identifier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# 12:0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5994945"/>
                  </a:ext>
                </a:extLst>
              </a:tr>
              <a:tr h="2067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Vertex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An entity in a graph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A passenger or flight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0653037"/>
                  </a:ext>
                </a:extLst>
              </a:tr>
              <a:tr h="381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Edge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A connection between graph entities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A passenger booked a flight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0318340"/>
                  </a:ext>
                </a:extLst>
              </a:tr>
              <a:tr h="4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Rules and structure defining classes and properties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Passenger fields and their types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691750"/>
                  </a:ext>
                </a:extLst>
              </a:tr>
              <a:tr h="3816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Index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A structure that speeds up lookups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Finding a flight by flight number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82473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3 · ARCHITECTURE &amp; DESIGN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Design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1371600" cy="77724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5760" y="960120"/>
            <a:ext cx="13716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/ Application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Studio, Console, Java API, HTTP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737360" y="134874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84832" y="960120"/>
            <a:ext cx="1371600" cy="77724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84832" y="960120"/>
            <a:ext cx="13716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Server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2424 · HTTP 2480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56432" y="134874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03904" y="960120"/>
            <a:ext cx="1371600" cy="77724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03904" y="960120"/>
            <a:ext cx="13716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engine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parser, graph/doc API, cache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75504" y="134874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22976" y="960120"/>
            <a:ext cx="1371600" cy="77724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22976" y="960120"/>
            <a:ext cx="13716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engine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plocal (disk) or memory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94576" y="134874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42048" y="960120"/>
            <a:ext cx="1371600" cy="777240"/>
          </a:xfrm>
          <a:prstGeom prst="rect">
            <a:avLst/>
          </a:prstGeom>
          <a:solidFill>
            <a:srgbClr val="D8A431"/>
          </a:solidFill>
          <a:ln w="12700">
            <a:solidFill>
              <a:srgbClr val="D8A43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42048" y="960120"/>
            <a:ext cx="13716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files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+ write-ahead log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1965960"/>
            <a:ext cx="4114800" cy="10972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8912" y="2011680"/>
            <a:ext cx="3968496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Embedded: engine runs inside the Java application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Client-server: remote clients connect to the server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Distributed: several server nodes share the database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1965960"/>
            <a:ext cx="4114800" cy="10972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36592" y="2011680"/>
            <a:ext cx="3968496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components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connections, security, plugins, HTTP/binary protocols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engine: records, classes, indexes, transactions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plocal (paginated local storage) and memory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200400"/>
            <a:ext cx="8412480" cy="1143000"/>
          </a:xfrm>
          <a:prstGeom prst="rect">
            <a:avLst/>
          </a:prstGeom>
          <a:solidFill>
            <a:srgbClr val="F6E2A0"/>
          </a:solidFill>
          <a:ln w="9525">
            <a:solidFill>
              <a:srgbClr val="D8B2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38912" y="3246120"/>
            <a:ext cx="8266176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request flows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connects over the binary protocol (2424) or HTTP/REST (2480) and authenticates as a database user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parses the SQL-like command, picks an execution plan (using indexes if available) and runs it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are written to the write-ahead log before data files, so the database can recover after a crash</a:t>
            </a:r>
            <a:endParaRPr lang="en-US" sz="1000" dirty="0"/>
          </a:p>
        </p:txBody>
      </p:sp>
      <p:sp>
        <p:nvSpPr>
          <p:cNvPr id="901" name="Washi tape"/>
          <p:cNvSpPr/>
          <p:nvPr/>
        </p:nvSpPr>
        <p:spPr>
          <a:xfrm rot="-120000">
            <a:off x="4325112" y="3127248"/>
            <a:ext cx="502920" cy="146304"/>
          </a:xfrm>
          <a:prstGeom prst="rect">
            <a:avLst/>
          </a:prstGeom>
          <a:solidFill>
            <a:srgbClr val="D8A431">
              <a:alpha val="70000"/>
            </a:srgbClr>
          </a:solidFill>
          <a:ln>
            <a:noFill/>
          </a:ln>
        </p:spPr>
      </p:sp>
      <p:pic>
        <p:nvPicPr>
          <p:cNvPr id="902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3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54864"/>
            <a:ext cx="731520" cy="731520"/>
          </a:xfrm>
          <a:prstGeom prst="rect">
            <a:avLst/>
          </a:prstGeom>
        </p:spPr>
      </p:pic>
      <p:pic>
        <p:nvPicPr>
          <p:cNvPr id="904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3584448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3 · ARCHITECTURE &amp; DESIGN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Management &amp; Indexing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4023360" cy="196596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38912" y="960120"/>
            <a:ext cx="3877056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is stored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are grouped into clusters (physical files); each class uses one or more clusters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is found by its RID = #cluster:position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Edges/links store the RID of the target, a direct pointer: no index lookup per hop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Write-ahead log gives durability and crash recovery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map a key to a RID so full scans are avoided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9144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links between records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280160"/>
            <a:ext cx="1188720" cy="50292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0" y="1280160"/>
            <a:ext cx="11887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#12:0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55080" y="1280160"/>
            <a:ext cx="1188720" cy="50292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280160"/>
            <a:ext cx="11887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#13:4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589520" y="2194560"/>
            <a:ext cx="1188720" cy="502920"/>
          </a:xfrm>
          <a:prstGeom prst="rect">
            <a:avLst/>
          </a:prstGeom>
          <a:solidFill>
            <a:srgbClr val="D8A431"/>
          </a:solidFill>
          <a:ln w="12700">
            <a:solidFill>
              <a:srgbClr val="D8A4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2194560"/>
            <a:ext cx="11887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#11:2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0" y="1531620"/>
            <a:ext cx="594360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949440" y="1783080"/>
            <a:ext cx="640080" cy="64008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669280" y="10515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0574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331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an edge = reading the stored RID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063240"/>
            <a:ext cx="2697480" cy="621792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8912" y="3108960"/>
            <a:ext cx="2551176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SB-Tree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Default; equality and range queries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0" y="3063240"/>
            <a:ext cx="2697480" cy="621792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273552" y="3108960"/>
            <a:ext cx="2551176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Equality lookups only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35040" y="3063240"/>
            <a:ext cx="2697480" cy="621792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108192" y="3108960"/>
            <a:ext cx="2551176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Lucene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and spatial search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3776472"/>
            <a:ext cx="2697480" cy="621792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38912" y="3822192"/>
            <a:ext cx="2551176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per key (e.g., airport code)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0" y="3776472"/>
            <a:ext cx="2697480" cy="621792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273552" y="3822192"/>
            <a:ext cx="2551176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NOTUNIQUE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allowed (e.g., city)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35040" y="3776472"/>
            <a:ext cx="2697480" cy="621792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08192" y="3822192"/>
            <a:ext cx="2551176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FULLTEXT / DICTIONARY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search / key-to-one-record map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" y="29077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Index types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54864"/>
            <a:ext cx="1051560" cy="731922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4949952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3 · ARCHITECTURE &amp; DESIGN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Processing, Transactions &amp; Concurrency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371600" cy="45720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5760" y="914400"/>
            <a:ext cx="1371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737360" y="114300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84832" y="914400"/>
            <a:ext cx="1371600" cy="45720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84832" y="914400"/>
            <a:ext cx="1371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56432" y="114300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03904" y="914400"/>
            <a:ext cx="1371600" cy="45720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03904" y="914400"/>
            <a:ext cx="1371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/ Planner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75504" y="114300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22976" y="914400"/>
            <a:ext cx="1371600" cy="45720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22976" y="914400"/>
            <a:ext cx="1371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94576" y="1143000"/>
            <a:ext cx="347472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42048" y="914400"/>
            <a:ext cx="1371600" cy="45720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42048" y="914400"/>
            <a:ext cx="1371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144475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 err="1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</a:t>
            </a:r>
            <a:r>
              <a:rPr lang="en-US" sz="85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looks like SQL but adds graph commands (CREATE VERTEX/EDGE, TRAVERSE, MATCH). The planner uses indexes when they help. Inspect with EXPLAIN.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1874520"/>
            <a:ext cx="2743200" cy="24688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38912" y="1920240"/>
            <a:ext cx="2596896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properties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Atomicity: all steps or none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Consistency: schema constraints and indexes always hold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Isolation: concurrent transactions do not corrupt each other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Durability: committed data survives crashes (write-ahead log)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Commands: BEGIN, COMMIT, ROLLBACK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874520"/>
            <a:ext cx="2743200" cy="24688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319272" y="1920240"/>
            <a:ext cx="2596896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control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 mechanism that manages multiple users accessing or modifying the same data at the same time</a:t>
            </a:r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ensuring data remains consistent and correct. </a:t>
            </a:r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users update the same record, the later commit detects the version conflict and must retry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126480" y="1874520"/>
            <a:ext cx="2651760" cy="2468880"/>
          </a:xfrm>
          <a:prstGeom prst="rect">
            <a:avLst/>
          </a:prstGeom>
          <a:solidFill>
            <a:srgbClr val="F6E2A0"/>
          </a:solidFill>
          <a:ln w="9525">
            <a:solidFill>
              <a:srgbClr val="D8B2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199632" y="1920240"/>
            <a:ext cx="2505456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booking link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+ seat update must succeed together: COMMIT or ROLLBACK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index stops two bookings of the same seat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case study uses a transaction for booking</a:t>
            </a:r>
            <a:endParaRPr lang="en-US" sz="1000" dirty="0"/>
          </a:p>
        </p:txBody>
      </p:sp>
      <p:sp>
        <p:nvSpPr>
          <p:cNvPr id="901" name="Washi tape"/>
          <p:cNvSpPr/>
          <p:nvPr/>
        </p:nvSpPr>
        <p:spPr>
          <a:xfrm rot="-120000">
            <a:off x="7205472" y="1801368"/>
            <a:ext cx="502920" cy="146304"/>
          </a:xfrm>
          <a:prstGeom prst="rect">
            <a:avLst/>
          </a:prstGeom>
          <a:solidFill>
            <a:srgbClr val="D8A431">
              <a:alpha val="70000"/>
            </a:srgbClr>
          </a:solidFill>
          <a:ln>
            <a:noFill/>
          </a:ln>
        </p:spPr>
      </p:sp>
      <p:pic>
        <p:nvPicPr>
          <p:cNvPr id="902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3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4864"/>
            <a:ext cx="1188720" cy="707337"/>
          </a:xfrm>
          <a:prstGeom prst="rect">
            <a:avLst/>
          </a:prstGeom>
        </p:spPr>
      </p:pic>
      <p:pic>
        <p:nvPicPr>
          <p:cNvPr id="904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6258560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4 · CORE FEATURES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5488" y="1170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289304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4128" y="987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SQL-like language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SELECT, INSERT, UPDATE, DELETE plus graph extensions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914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10128" y="1170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128930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858768" y="987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TRAVERSE, MATCH, shortestPath(), out()/in()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35040" y="914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44768" y="1170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289304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93408" y="987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modes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Schema-less, schema-full or hybrid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65760" y="2057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5488" y="2313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2432304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24128" y="2130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SB-Tree, Hash, Lucene full-text/spatial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3200400" y="2057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3310128" y="2313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2432304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858768" y="2130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with MVCC; BEGIN / COMMIT / ROLLBACK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035040" y="2057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144768" y="2313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3640" y="2432304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693408" y="2130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MANDATORY, NOTNULL, MIN, MAX, REGEXP, READONLY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365760" y="3200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475488" y="3456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" y="3575304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24128" y="3273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&amp; hooks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functions (SQL/JavaScript), triggers/hooks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200400" y="3200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3310128" y="3456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0" y="3575304"/>
            <a:ext cx="219456" cy="219456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3858768" y="3273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web UI, console, REST/HTTP API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6035040" y="3200400"/>
            <a:ext cx="2697480" cy="10058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6144768" y="3456432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640" y="3575304"/>
            <a:ext cx="219456" cy="219456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6693408" y="3273552"/>
            <a:ext cx="1965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API, drivers for several languages, Docker image</a:t>
            </a:r>
            <a:endParaRPr lang="en-US" sz="10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63840" y="54864"/>
            <a:ext cx="1051560" cy="731922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5760" y="822960"/>
            <a:ext cx="2218944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4 · CORE FEATURES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Security, Backup &amp; Recovery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8686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Backup, recovery &amp; integrity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43000"/>
            <a:ext cx="402336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" y="1188720"/>
            <a:ext cx="387705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users and passwords; default users (admin, reader, writer) should be changed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02336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8912" y="1920240"/>
            <a:ext cx="387705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/ roles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carry permissions on resources (create, read, update, delete)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606040"/>
            <a:ext cx="402336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38912" y="2651760"/>
            <a:ext cx="387705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Record-level security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ORestricted lets each record list who may access 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337560"/>
            <a:ext cx="402336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38912" y="3383280"/>
            <a:ext cx="387705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SSL/TLS for connections; encryption at rest available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143000"/>
            <a:ext cx="411480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36592" y="1188720"/>
            <a:ext cx="396849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DATABASE creates a compressed archive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874520"/>
            <a:ext cx="411480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736592" y="1920240"/>
            <a:ext cx="396849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/ Import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EXPORT/IMPORT DATABASE in JSON format; also used to move between versions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606040"/>
            <a:ext cx="411480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736592" y="2651760"/>
            <a:ext cx="396849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Write-ahead log replays committed changes after a crash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3337560"/>
            <a:ext cx="4114800" cy="658368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36592" y="3383280"/>
            <a:ext cx="3968496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+ unique indexes + ACID transactions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solidFill>
            <a:srgbClr val="F6E2A0"/>
          </a:solidFill>
          <a:ln w="9525">
            <a:solidFill>
              <a:srgbClr val="D8B25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" y="4160520"/>
            <a:ext cx="826617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tip: change default passwords first and test restoring a backup. Replication is not a backup.</a:t>
            </a:r>
            <a:endParaRPr lang="en-US" sz="900" dirty="0"/>
          </a:p>
        </p:txBody>
      </p:sp>
      <p:sp>
        <p:nvSpPr>
          <p:cNvPr id="901" name="Washi tape"/>
          <p:cNvSpPr/>
          <p:nvPr/>
        </p:nvSpPr>
        <p:spPr>
          <a:xfrm rot="140000">
            <a:off x="4325112" y="4041648"/>
            <a:ext cx="502920" cy="146304"/>
          </a:xfrm>
          <a:prstGeom prst="rect">
            <a:avLst/>
          </a:prstGeom>
          <a:solidFill>
            <a:srgbClr val="D8A431">
              <a:alpha val="70000"/>
            </a:srgbClr>
          </a:solidFill>
          <a:ln>
            <a:noFill/>
          </a:ln>
        </p:spPr>
      </p:sp>
      <p:pic>
        <p:nvPicPr>
          <p:cNvPr id="902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3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4864"/>
            <a:ext cx="1188720" cy="707337"/>
          </a:xfrm>
          <a:prstGeom prst="rect">
            <a:avLst/>
          </a:prstGeom>
        </p:spPr>
      </p:pic>
      <p:pic>
        <p:nvPicPr>
          <p:cNvPr id="904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4608576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5 · STRENGTHS &amp; LIMITATIONS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&amp; Limitations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3328416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BF7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EA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BF7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A4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Multi-model: graph, document and key-value in one engine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community and fewer learning resources than MySQL/PostgreSQL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graph traversal through direct links (no JOINs)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language is SQL-like, not standard SQL; MATCH/TRAVERSE need learning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SQL-like language is familiar to SQL users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Distributed mode is harder to set up and tune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transactions and constraints supported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managed cloud offerings than mainstream databases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schema: schema-less, hybrid or full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roadmap is less visible than for larger competitors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(Apache 2.0), embeddable in Java apps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large single-node 'supernode' vertices can slow traversals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note: how much each point matters depends on the workload and the team's experience.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54864"/>
            <a:ext cx="731520" cy="731520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3925823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5 · STRENGTHS &amp; LIMITATIONS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OrientDB vs MySQL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331927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BF7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BF7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OrientDB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BF7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model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 NoSQL (graph, document, key-value)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 (RDBMS)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language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SQL-like + MATCH / TRAVERSE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Schema-less, hybrid or full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schema (tables, columns)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links / edges (RIDs)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keys + JOINs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/ transactions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ACID, optimistic MVCC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with InnoDB (default engine)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SB-Tree, Hash, Lucene full-text/spatial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B-tree, full-text, spatial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Distributed multi-master (Hazelcast)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Replication; partitioning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 cases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 data, recommendations, fraud, routes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apps, CMS, OLTP, read-heavy sites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/ maturity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community and tooling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large ecosystem; widely supported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 / owner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2.0; SAP (via Callidus)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2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GPL / commercial; Oracle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are presented factually; the better choice depends on the application. Sources: OrientDB and MySQL official documentation.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54864"/>
            <a:ext cx="1051560" cy="731922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2901696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6 · 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Cases / Applications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2606040" cy="96012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5488" y="1161288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280160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4128" y="960120"/>
            <a:ext cx="18745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Friends, followers, mutual connections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108960" y="914400"/>
            <a:ext cx="2606040" cy="96012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161288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128016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767328" y="960120"/>
            <a:ext cx="18745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who bought / liked similar items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5760" y="2011680"/>
            <a:ext cx="2606040" cy="96012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75488" y="2258568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237744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24128" y="2057400"/>
            <a:ext cx="18745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accounts, devices and transactions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108960" y="2011680"/>
            <a:ext cx="2606040" cy="96012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3218688" y="2258568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377440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67328" y="2057400"/>
            <a:ext cx="18745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&amp; networks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Flights, roads, IT/network topology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365760" y="3108960"/>
            <a:ext cx="2606040" cy="96012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5488" y="3355848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3474720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024128" y="3154680"/>
            <a:ext cx="18745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catalogs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with links between them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3108960" y="3108960"/>
            <a:ext cx="2606040" cy="96012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3218688" y="3355848"/>
            <a:ext cx="457200" cy="457200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7560" y="3474720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767328" y="3154680"/>
            <a:ext cx="18745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graphs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relationships for search and AI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943600" y="914400"/>
            <a:ext cx="2834640" cy="3154680"/>
          </a:xfrm>
          <a:prstGeom prst="rect">
            <a:avLst/>
          </a:prstGeom>
          <a:solidFill>
            <a:srgbClr val="F6E2A0"/>
          </a:solidFill>
          <a:ln w="9525">
            <a:solidFill>
              <a:srgbClr val="D8B2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016752" y="960120"/>
            <a:ext cx="2688336" cy="3063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adoption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OrientDB's website and GitHub community list user stories and projects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SAP since 2018 (via Callidus acquisition)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flight-route case study shows the same idea: airports as nodes, flights as links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each example against its source before presenting; add 1–2 named customers from orientdb.org if available.</a:t>
            </a:r>
            <a:endParaRPr lang="en-US" sz="800" dirty="0"/>
          </a:p>
        </p:txBody>
      </p:sp>
      <p:sp>
        <p:nvSpPr>
          <p:cNvPr id="901" name="Washi tape"/>
          <p:cNvSpPr/>
          <p:nvPr/>
        </p:nvSpPr>
        <p:spPr>
          <a:xfrm rot="-120000">
            <a:off x="7114032" y="841248"/>
            <a:ext cx="502920" cy="146304"/>
          </a:xfrm>
          <a:prstGeom prst="rect">
            <a:avLst/>
          </a:prstGeom>
          <a:solidFill>
            <a:srgbClr val="D8A431">
              <a:alpha val="70000"/>
            </a:srgbClr>
          </a:solidFill>
          <a:ln>
            <a:noFill/>
          </a:ln>
        </p:spPr>
      </p:sp>
      <p:pic>
        <p:nvPicPr>
          <p:cNvPr id="902" name="Flight path doodle" descr="Dotted flight path with a small aeroplan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3" name="Margin doodle" descr="Decorative airport doodl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6679" y="54864"/>
            <a:ext cx="1188720" cy="707337"/>
          </a:xfrm>
          <a:prstGeom prst="rect">
            <a:avLst/>
          </a:prstGeom>
        </p:spPr>
      </p:pic>
      <p:pic>
        <p:nvPicPr>
          <p:cNvPr id="904" name="Hand-drawn underlin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760" y="822960"/>
            <a:ext cx="4096512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7 · HANDS-ON CASE STUDY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Airport Flight Network: Case Study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5738212" y="1198586"/>
            <a:ext cx="3785616" cy="3337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network using OrientDB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graph database?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Airports, flights and passengers are naturally connected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model Departs, Arrives and Booked directly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queries follow links instead of multi-table JOINs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path between airports is a built-in function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keep booking + seat count consistent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indexes avoid duplicate airports and emails</a:t>
            </a:r>
            <a:endParaRPr lang="en-US" sz="10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54864"/>
            <a:ext cx="731520" cy="731520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5803392" cy="7772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2FE0F72-505F-4C27-D444-DDFDAB5DAE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977686"/>
            <a:ext cx="5205046" cy="37178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7 · HANDS-ON CASE STUDY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 Network Database Design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2697480" cy="32004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9144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(V)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234440"/>
            <a:ext cx="2697480" cy="12344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" y="128016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 UNIQUE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0" y="914400"/>
            <a:ext cx="2697480" cy="32004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9144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(V)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2697480" cy="12344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291840" y="128016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flight_no  UNIQUE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departure_time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arrival_time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seats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fare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97480" cy="32004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9144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(V)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1234440"/>
            <a:ext cx="2697480" cy="12344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126480" y="128016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  UNIQUE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 UNIQUE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65760" y="2651760"/>
            <a:ext cx="2697480" cy="32004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5760" y="26517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Departs (E)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2697480" cy="68580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" y="299923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Airport → Flight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0" y="2651760"/>
            <a:ext cx="2697480" cy="32004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0400" y="26517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(E)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971800"/>
            <a:ext cx="2697480" cy="68580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291840" y="299923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 → Airport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35040" y="2651760"/>
            <a:ext cx="2697480" cy="32004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26517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(E)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971800"/>
            <a:ext cx="2697480" cy="68580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126480" y="299923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Passenger → Flight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properties: seat_no, status, booked_at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794760"/>
            <a:ext cx="8412480" cy="548640"/>
          </a:xfrm>
          <a:prstGeom prst="rect">
            <a:avLst/>
          </a:prstGeom>
          <a:solidFill>
            <a:srgbClr val="F6E2A0"/>
          </a:solidFill>
          <a:ln w="9525">
            <a:solidFill>
              <a:srgbClr val="D8B2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38912" y="3840480"/>
            <a:ext cx="826617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classes extend V, edge classes extend E. Edges replace foreign keys: Airport –Departs→ Flight –Arrives→ Airport; Passenger –Booked→ Flight. This is a proposed design; refine it while implementing.</a:t>
            </a:r>
            <a:endParaRPr lang="en-US" sz="900" dirty="0"/>
          </a:p>
        </p:txBody>
      </p:sp>
      <p:sp>
        <p:nvSpPr>
          <p:cNvPr id="901" name="Washi tape"/>
          <p:cNvSpPr/>
          <p:nvPr/>
        </p:nvSpPr>
        <p:spPr>
          <a:xfrm rot="-120000">
            <a:off x="4325112" y="3721608"/>
            <a:ext cx="502920" cy="146304"/>
          </a:xfrm>
          <a:prstGeom prst="rect">
            <a:avLst/>
          </a:prstGeom>
          <a:solidFill>
            <a:srgbClr val="D8A431">
              <a:alpha val="70000"/>
            </a:srgbClr>
          </a:solidFill>
          <a:ln>
            <a:noFill/>
          </a:ln>
        </p:spPr>
      </p:sp>
      <p:pic>
        <p:nvPicPr>
          <p:cNvPr id="902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3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54864"/>
            <a:ext cx="1051560" cy="731922"/>
          </a:xfrm>
          <a:prstGeom prst="rect">
            <a:avLst/>
          </a:prstGeom>
        </p:spPr>
      </p:pic>
      <p:pic>
        <p:nvPicPr>
          <p:cNvPr id="904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5120640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E7A07F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7 · HANDS-ON DEMONSTRATION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BF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Demonstration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33272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9144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setup (Docker / zip)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572768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691640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157276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server, open Studio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231136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223113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database FlightDB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889504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08376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2889504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vertex &amp; edge classes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547872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5478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&amp; UNIQUE indexes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914400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971800" y="1033272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71800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355848" y="9144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vertices and edges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880360" y="1572768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971800" y="1691640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97180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3355848" y="157276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80360" y="2231136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971800" y="2350008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718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3355848" y="223113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&amp; graph traversal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80360" y="2889504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971800" y="3008376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97180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355848" y="2889504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&amp; shortestPath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80360" y="3547872"/>
            <a:ext cx="2377440" cy="5486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971800" y="3666744"/>
            <a:ext cx="310896" cy="310896"/>
          </a:xfrm>
          <a:prstGeom prst="ellipse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718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3355848" y="35478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(booking)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42976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on the Airport Flight Network schema.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4864"/>
            <a:ext cx="1188720" cy="707337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3755136" cy="77724"/>
          </a:xfrm>
          <a:prstGeom prst="rect">
            <a:avLst/>
          </a:prstGeom>
        </p:spPr>
      </p:pic>
      <p:sp>
        <p:nvSpPr>
          <p:cNvPr id="54" name="Shape 6">
            <a:extLst>
              <a:ext uri="{FF2B5EF4-FFF2-40B4-BE49-F238E27FC236}">
                <a16:creationId xmlns:a16="http://schemas.microsoft.com/office/drawing/2014/main" id="{4397166F-92D0-C777-16FA-96B9D2AC230A}"/>
              </a:ext>
            </a:extLst>
          </p:cNvPr>
          <p:cNvSpPr/>
          <p:nvPr/>
        </p:nvSpPr>
        <p:spPr>
          <a:xfrm>
            <a:off x="5570806" y="1268906"/>
            <a:ext cx="1051560" cy="54864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9E70BC99-72B9-B7C0-1A49-B7AE89AF81CE}"/>
              </a:ext>
            </a:extLst>
          </p:cNvPr>
          <p:cNvSpPr txBox="1"/>
          <p:nvPr/>
        </p:nvSpPr>
        <p:spPr>
          <a:xfrm>
            <a:off x="5570806" y="1268906"/>
            <a:ext cx="10515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(MAA)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900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67C37AB6-2EDB-498E-A51E-708129E75B4D}"/>
              </a:ext>
            </a:extLst>
          </p:cNvPr>
          <p:cNvSpPr/>
          <p:nvPr/>
        </p:nvSpPr>
        <p:spPr>
          <a:xfrm>
            <a:off x="7856806" y="1268906"/>
            <a:ext cx="1051560" cy="54864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D8D17586-A4BB-A59B-33E5-9AECC0F180C8}"/>
              </a:ext>
            </a:extLst>
          </p:cNvPr>
          <p:cNvSpPr txBox="1"/>
          <p:nvPr/>
        </p:nvSpPr>
        <p:spPr>
          <a:xfrm>
            <a:off x="7856806" y="1268906"/>
            <a:ext cx="10515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(AI101)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900" dirty="0"/>
          </a:p>
        </p:txBody>
      </p:sp>
      <p:sp>
        <p:nvSpPr>
          <p:cNvPr id="62" name="Shape 10">
            <a:extLst>
              <a:ext uri="{FF2B5EF4-FFF2-40B4-BE49-F238E27FC236}">
                <a16:creationId xmlns:a16="http://schemas.microsoft.com/office/drawing/2014/main" id="{10AA38EF-EAB3-3A8D-11F1-D42CF275BC00}"/>
              </a:ext>
            </a:extLst>
          </p:cNvPr>
          <p:cNvSpPr/>
          <p:nvPr/>
        </p:nvSpPr>
        <p:spPr>
          <a:xfrm>
            <a:off x="5570806" y="2640506"/>
            <a:ext cx="1051560" cy="54864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896" name="Text 11">
            <a:extLst>
              <a:ext uri="{FF2B5EF4-FFF2-40B4-BE49-F238E27FC236}">
                <a16:creationId xmlns:a16="http://schemas.microsoft.com/office/drawing/2014/main" id="{AA9C1211-C8AB-ADFC-E705-B6E17058CE78}"/>
              </a:ext>
            </a:extLst>
          </p:cNvPr>
          <p:cNvSpPr txBox="1"/>
          <p:nvPr/>
        </p:nvSpPr>
        <p:spPr>
          <a:xfrm>
            <a:off x="5570806" y="2640506"/>
            <a:ext cx="10515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900" dirty="0"/>
          </a:p>
        </p:txBody>
      </p:sp>
      <p:sp>
        <p:nvSpPr>
          <p:cNvPr id="898" name="Shape 12">
            <a:extLst>
              <a:ext uri="{FF2B5EF4-FFF2-40B4-BE49-F238E27FC236}">
                <a16:creationId xmlns:a16="http://schemas.microsoft.com/office/drawing/2014/main" id="{D47C45DB-020C-3D9D-05D8-3F5885ABCD9E}"/>
              </a:ext>
            </a:extLst>
          </p:cNvPr>
          <p:cNvSpPr/>
          <p:nvPr/>
        </p:nvSpPr>
        <p:spPr>
          <a:xfrm>
            <a:off x="7856806" y="2640506"/>
            <a:ext cx="1051560" cy="54864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900" name="Text 13">
            <a:extLst>
              <a:ext uri="{FF2B5EF4-FFF2-40B4-BE49-F238E27FC236}">
                <a16:creationId xmlns:a16="http://schemas.microsoft.com/office/drawing/2014/main" id="{D144E349-24BC-232D-D2C8-1C5A33BC332D}"/>
              </a:ext>
            </a:extLst>
          </p:cNvPr>
          <p:cNvSpPr txBox="1"/>
          <p:nvPr/>
        </p:nvSpPr>
        <p:spPr>
          <a:xfrm>
            <a:off x="7856806" y="2640506"/>
            <a:ext cx="10515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(DEL)</a:t>
            </a:r>
            <a:endParaRPr lang="en-US" sz="9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900" dirty="0"/>
          </a:p>
        </p:txBody>
      </p:sp>
      <p:sp>
        <p:nvSpPr>
          <p:cNvPr id="905" name="Shape 14">
            <a:extLst>
              <a:ext uri="{FF2B5EF4-FFF2-40B4-BE49-F238E27FC236}">
                <a16:creationId xmlns:a16="http://schemas.microsoft.com/office/drawing/2014/main" id="{11F1C996-3A19-3AE0-694B-E12C795ECC86}"/>
              </a:ext>
            </a:extLst>
          </p:cNvPr>
          <p:cNvSpPr/>
          <p:nvPr/>
        </p:nvSpPr>
        <p:spPr>
          <a:xfrm>
            <a:off x="6835725" y="1588946"/>
            <a:ext cx="701040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907" name="Text 15">
            <a:extLst>
              <a:ext uri="{FF2B5EF4-FFF2-40B4-BE49-F238E27FC236}">
                <a16:creationId xmlns:a16="http://schemas.microsoft.com/office/drawing/2014/main" id="{87ABDFD7-C320-FDC3-7371-FE75E4EE4B0C}"/>
              </a:ext>
            </a:extLst>
          </p:cNvPr>
          <p:cNvSpPr txBox="1"/>
          <p:nvPr/>
        </p:nvSpPr>
        <p:spPr>
          <a:xfrm>
            <a:off x="6835725" y="1320112"/>
            <a:ext cx="7010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8A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Departs</a:t>
            </a:r>
            <a:endParaRPr lang="en-US" sz="800" dirty="0"/>
          </a:p>
        </p:txBody>
      </p:sp>
      <p:sp>
        <p:nvSpPr>
          <p:cNvPr id="909" name="Shape 16">
            <a:extLst>
              <a:ext uri="{FF2B5EF4-FFF2-40B4-BE49-F238E27FC236}">
                <a16:creationId xmlns:a16="http://schemas.microsoft.com/office/drawing/2014/main" id="{2F415355-8328-CAA4-E5E8-31E22344A21D}"/>
              </a:ext>
            </a:extLst>
          </p:cNvPr>
          <p:cNvSpPr/>
          <p:nvPr/>
        </p:nvSpPr>
        <p:spPr>
          <a:xfrm>
            <a:off x="8222566" y="1944859"/>
            <a:ext cx="0" cy="610538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911" name="Text 17">
            <a:extLst>
              <a:ext uri="{FF2B5EF4-FFF2-40B4-BE49-F238E27FC236}">
                <a16:creationId xmlns:a16="http://schemas.microsoft.com/office/drawing/2014/main" id="{6519876A-92B2-A94C-0A24-0378730A6D4F}"/>
              </a:ext>
            </a:extLst>
          </p:cNvPr>
          <p:cNvSpPr txBox="1"/>
          <p:nvPr/>
        </p:nvSpPr>
        <p:spPr>
          <a:xfrm>
            <a:off x="8432174" y="2137586"/>
            <a:ext cx="70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8A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</a:t>
            </a:r>
            <a:endParaRPr lang="en-US" sz="800" dirty="0"/>
          </a:p>
        </p:txBody>
      </p:sp>
      <p:sp>
        <p:nvSpPr>
          <p:cNvPr id="913" name="Shape 18">
            <a:extLst>
              <a:ext uri="{FF2B5EF4-FFF2-40B4-BE49-F238E27FC236}">
                <a16:creationId xmlns:a16="http://schemas.microsoft.com/office/drawing/2014/main" id="{5563A6C3-B058-BB82-5DFF-4539AAFAA547}"/>
              </a:ext>
            </a:extLst>
          </p:cNvPr>
          <p:cNvSpPr/>
          <p:nvPr/>
        </p:nvSpPr>
        <p:spPr>
          <a:xfrm>
            <a:off x="6696807" y="2878249"/>
            <a:ext cx="1029872" cy="11255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915" name="Text 19">
            <a:extLst>
              <a:ext uri="{FF2B5EF4-FFF2-40B4-BE49-F238E27FC236}">
                <a16:creationId xmlns:a16="http://schemas.microsoft.com/office/drawing/2014/main" id="{D528AA8F-4D08-721D-6E1A-237492118FBF}"/>
              </a:ext>
            </a:extLst>
          </p:cNvPr>
          <p:cNvSpPr txBox="1"/>
          <p:nvPr/>
        </p:nvSpPr>
        <p:spPr>
          <a:xfrm>
            <a:off x="5959426" y="2224806"/>
            <a:ext cx="63093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8A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7 · HANDS-ON DEMONSTRATION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&amp; Schema Creation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4114800" cy="1280160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" y="950976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(Docker)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38912" y="1152144"/>
            <a:ext cx="3968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-d --name orientdb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 2424:2424 -p 2480:2480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ORIENTDB_ROOT_PASSWORD=root123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orientdb:3.2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Studio: http://localhost:2480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Console: bin/console.sh (zip install)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114800" cy="1280160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36592" y="950976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database (console)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1152144"/>
            <a:ext cx="3968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AutoNum type="arabicPeriod"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remote:localhost root root123 (server)</a:t>
            </a:r>
          </a:p>
          <a:p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CREATE DATABASE remote:localhost/</a:t>
            </a:r>
            <a:r>
              <a:rPr lang="en-US" sz="750" dirty="0" err="1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FlightDB</a:t>
            </a:r>
            <a:r>
              <a:rPr lang="en-US" sz="750" dirty="0"/>
              <a:t> </a:t>
            </a: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root123 </a:t>
            </a:r>
            <a:r>
              <a:rPr lang="en-US" sz="750" dirty="0" err="1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plocal</a:t>
            </a: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750" dirty="0" err="1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/user/pass)</a:t>
            </a:r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CONNECT remote:localhost/</a:t>
            </a:r>
            <a:r>
              <a:rPr lang="en-US" sz="750" dirty="0" err="1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FlightDB</a:t>
            </a:r>
            <a:r>
              <a:rPr lang="en-US" sz="750" dirty="0"/>
              <a:t>  </a:t>
            </a: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 </a:t>
            </a:r>
            <a:r>
              <a:rPr lang="en-US" sz="750" dirty="0" err="1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(only if acc exist)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65760" y="2331720"/>
            <a:ext cx="4114800" cy="2247314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2368296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CLASS / PROPERTY / INDEX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" y="2528316"/>
            <a:ext cx="396849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Node 1: Airport – code(unique) - name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CLASS Airport EXTENDS V;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PROPERTY Airport.code STRING;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PROPERTY Airport.name STRING;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Airport.code ON Airport(code) UNIQUE;</a:t>
            </a:r>
          </a:p>
          <a:p>
            <a:pPr marL="0" indent="0">
              <a:buNone/>
            </a:pPr>
            <a:endParaRPr lang="en-US" sz="700" dirty="0">
              <a:solidFill>
                <a:srgbClr val="2B2B2F"/>
              </a:solidFill>
              <a:latin typeface="Consolas" pitchFamily="34" charset="0"/>
            </a:endParaRPr>
          </a:p>
          <a:p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Node 2: Flight – flight no(unique)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CLASS Flight EXTENDS V;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PROPERTY Flight.flight_no STRING;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Flight.flight_no ON Flight(flight_no) UNIQUE;</a:t>
            </a:r>
          </a:p>
          <a:p>
            <a:pPr marL="0" indent="0">
              <a:buNone/>
            </a:pPr>
            <a:endParaRPr lang="en-US" sz="700" dirty="0">
              <a:solidFill>
                <a:srgbClr val="2B2B2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</a:rPr>
              <a:t>3)Node 3: Passenger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CLASS Passenger EXTENDS V;</a:t>
            </a:r>
          </a:p>
          <a:p>
            <a:pPr marL="0" indent="0">
              <a:buNone/>
            </a:pPr>
            <a:endParaRPr lang="en-US" sz="700" dirty="0">
              <a:solidFill>
                <a:srgbClr val="2B2B2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</a:rPr>
              <a:t>4)Edges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CLASS Departs EXTENDS E;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CLASS Arrives EXTENDS E;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CLASS Booked EXTENDS E;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63440" y="2331720"/>
            <a:ext cx="4114800" cy="2247314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36592" y="2368296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vertices and edges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736592" y="2569464"/>
            <a:ext cx="396849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1) Insert data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CREATE VERTEX Airport SET code='MAA’,</a:t>
            </a:r>
            <a:r>
              <a:rPr lang="en-US" sz="700" dirty="0">
                <a:latin typeface="Consolas" panose="020B0609020204030204" pitchFamily="49" charset="0"/>
              </a:rPr>
              <a:t> 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name='Chennai Intl', city='Chennai';</a:t>
            </a:r>
            <a:endParaRPr lang="en-US" sz="7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CREATE VERTEX Airport SET code='DEL’,</a:t>
            </a:r>
            <a:r>
              <a:rPr lang="en-US" sz="700" dirty="0">
                <a:latin typeface="Consolas" panose="020B0609020204030204" pitchFamily="49" charset="0"/>
              </a:rPr>
              <a:t> 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name='Delhi Intl', city='Delhi’;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CREATE VERTEX Flight SET flight_no='AI101’,</a:t>
            </a:r>
            <a:r>
              <a:rPr lang="en-US" sz="700" dirty="0">
                <a:latin typeface="Consolas" panose="020B0609020204030204" pitchFamily="49" charset="0"/>
              </a:rPr>
              <a:t> 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seats=180, fare=5200;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</a:endParaRPr>
          </a:p>
          <a:p>
            <a:r>
              <a:rPr lang="en-US" sz="700" dirty="0">
                <a:latin typeface="Consolas" panose="020B0609020204030204" pitchFamily="49" charset="0"/>
              </a:rPr>
              <a:t>2) Chennai Airport → Departs → AI101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CREATE EDGE Departs FROM</a:t>
            </a:r>
            <a:endParaRPr lang="en-US" sz="7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(SELECT FROM Airport WHERE code='MAA') TO</a:t>
            </a:r>
            <a:endParaRPr lang="en-US" sz="7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(SELECT FROM Flight WHERE flight_no='AI101’);</a:t>
            </a:r>
          </a:p>
          <a:p>
            <a:pPr marL="0" indent="0">
              <a:buNone/>
            </a:pPr>
            <a:endParaRPr lang="en-US" sz="700" dirty="0">
              <a:solidFill>
                <a:srgbClr val="2B2B2F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</a:rPr>
              <a:t>3)</a:t>
            </a:r>
            <a:r>
              <a:rPr lang="en-US" sz="700" dirty="0">
                <a:latin typeface="Consolas" panose="020B0609020204030204" pitchFamily="49" charset="0"/>
              </a:rPr>
              <a:t> AI101 → Arrives → Delhi Airport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CREATE EDGE Arrives FROM</a:t>
            </a:r>
            <a:endParaRPr lang="en-US" sz="7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(SELECT FROM Flight WHERE flight_no='AI101') TO</a:t>
            </a:r>
            <a:endParaRPr lang="en-US" sz="7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(SELECT FROM Airport WHERE code='DEL');</a:t>
            </a:r>
            <a:endParaRPr lang="en-US" sz="700" dirty="0">
              <a:latin typeface="Consolas" panose="020B0609020204030204" pitchFamily="49" charset="0"/>
            </a:endParaRPr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54864"/>
            <a:ext cx="731520" cy="731520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3925823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7 · HANDS-ON DEMONSTRATION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OrientDB Operations: CRUD, Traversal, Transactions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4114800" cy="1554480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" y="925830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38912" y="1095873"/>
            <a:ext cx="3968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700" dirty="0">
                <a:latin typeface="Consolas" panose="020B0609020204030204" pitchFamily="49" charset="0"/>
              </a:rPr>
              <a:t>1. Create a passenger</a:t>
            </a:r>
            <a:endParaRPr lang="en-US" sz="700" dirty="0">
              <a:solidFill>
                <a:srgbClr val="2B2B2F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CREATE VERTEX Passenger SET </a:t>
            </a:r>
            <a:r>
              <a:rPr lang="en-US" sz="700" dirty="0" err="1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pid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=1,</a:t>
            </a:r>
            <a:r>
              <a:rPr lang="en-US" sz="700" dirty="0">
                <a:latin typeface="Consolas" panose="020B0609020204030204" pitchFamily="49" charset="0"/>
              </a:rPr>
              <a:t> 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 name='Asha', email='asha@x.com’;</a:t>
            </a:r>
          </a:p>
          <a:p>
            <a:pPr marL="0" indent="0">
              <a:buNone/>
            </a:pPr>
            <a:endParaRPr lang="en-US" sz="700" dirty="0">
              <a:solidFill>
                <a:srgbClr val="2B2B2F"/>
              </a:solidFill>
              <a:latin typeface="Consolas" panose="020B0609020204030204" pitchFamily="49" charset="0"/>
            </a:endParaRPr>
          </a:p>
          <a:p>
            <a:r>
              <a:rPr lang="en-US" sz="700" dirty="0">
                <a:latin typeface="Consolas" panose="020B0609020204030204" pitchFamily="49" charset="0"/>
              </a:rPr>
              <a:t>2. Retrieve flights with fares below 6000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SELECT FROM Flight WHERE fare &lt; 6000</a:t>
            </a:r>
            <a:r>
              <a:rPr lang="en-US" sz="700" dirty="0">
                <a:latin typeface="Consolas" panose="020B0609020204030204" pitchFamily="49" charset="0"/>
              </a:rPr>
              <a:t> 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ORDER BY fare;</a:t>
            </a:r>
          </a:p>
          <a:p>
            <a:pPr marL="0" indent="0">
              <a:buNone/>
            </a:pPr>
            <a:endParaRPr lang="en-US" sz="700" dirty="0">
              <a:solidFill>
                <a:srgbClr val="2B2B2F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700" dirty="0">
                <a:latin typeface="Consolas" panose="020B0609020204030204" pitchFamily="49" charset="0"/>
              </a:rPr>
              <a:t>3. Update a flight's fare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UPDATE Flight SET fare = 5500</a:t>
            </a:r>
            <a:endParaRPr lang="en-US" sz="7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WHERE </a:t>
            </a:r>
            <a:r>
              <a:rPr lang="en-US" sz="700" dirty="0" err="1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flight_no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='AI101’;</a:t>
            </a:r>
          </a:p>
          <a:p>
            <a:pPr marL="0" indent="0">
              <a:buNone/>
            </a:pPr>
            <a:endParaRPr lang="en-US" sz="700" dirty="0">
              <a:solidFill>
                <a:srgbClr val="2B2B2F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700" dirty="0">
                <a:latin typeface="Consolas" panose="020B0609020204030204" pitchFamily="49" charset="0"/>
              </a:rPr>
              <a:t>4. Delete a passenger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DELETE VERTEX Passenger WHERE </a:t>
            </a:r>
            <a:r>
              <a:rPr lang="en-US" sz="700" dirty="0" err="1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pid</a:t>
            </a:r>
            <a:r>
              <a:rPr lang="en-US" sz="700" dirty="0">
                <a:solidFill>
                  <a:srgbClr val="2B2B2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=1;</a:t>
            </a:r>
            <a:endParaRPr lang="en-US" sz="700" dirty="0">
              <a:latin typeface="Consolas" panose="020B0609020204030204" pitchFamily="49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114800" cy="1554480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36592" y="950976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(replaces JOINs)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1152144"/>
            <a:ext cx="3968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direct destinations from Chennai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expand(out('Departs').out('Arrives'))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Airport WHERE code='MAA';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all flights booked by Asha---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expand(out('Booked')) FROM Passenger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name='Asha';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65760" y="2606040"/>
            <a:ext cx="4114800" cy="1783080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2642616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&amp; shortest path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" y="2843784"/>
            <a:ext cx="39684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{class: Passenger, as: p,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where: (name='Asha’)}         #record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.out('Booked'){as: f}          #edge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.out('Arrives'){as: a}         #edge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p.name AS passenger,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f.flight_no AS flight, a.city AS city;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expand(shortestPath($a, $b, 'OUT'))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$a=(SELECT FROM Airport WHERE code='MAA'),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$b=(SELECT FROM Airport WHERE code='DEL');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63440" y="2606040"/>
            <a:ext cx="4114800" cy="1783080"/>
          </a:xfrm>
          <a:prstGeom prst="rect">
            <a:avLst/>
          </a:prstGeom>
          <a:solidFill>
            <a:srgbClr val="F1E8D2"/>
          </a:solidFill>
          <a:ln w="9525">
            <a:solidFill>
              <a:srgbClr val="5A5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36592" y="2642616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C6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+ index (seat filled =&gt; reduce seat no (edge=seat no))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736592" y="2843784"/>
            <a:ext cx="39684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Flight SET seats = seats - 1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flight_no='AI101';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EDGE Booked FROM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(SELECT FROM Passenger WHERE pid=1) TO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(SELECT FROM Flight WHERE flight_no='AI101')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 seat_no='12A';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2B2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Booked.seat ON Booked(seat_no) NOTUNIQUE;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" y="449884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each query in OrientDB Studio/console and add output screenshots.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Hand-drawn underli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822960"/>
            <a:ext cx="7680960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8 · PERFORMANCE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Considerations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2697480" cy="8686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8912" y="1143000"/>
            <a:ext cx="2551176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 speed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an edge reads a stored RID, so cost depends on records visited, not table size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697480" cy="8686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273552" y="1143000"/>
            <a:ext cx="2551176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index avoids full scans; too many indexes slow writes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2697480" cy="8686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08192" y="1143000"/>
            <a:ext cx="2551176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vs links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relationship queries avoid repeated JOIN lookups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057400"/>
            <a:ext cx="2697480" cy="8686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38912" y="2103120"/>
            <a:ext cx="2551176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size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need good index design and enough memory/cache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2057400"/>
            <a:ext cx="2697480" cy="8686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273552" y="2103120"/>
            <a:ext cx="2551176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Supernodes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vertex with millions of edges makes traversals through it slow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2057400"/>
            <a:ext cx="2697480" cy="86868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108192" y="2103120"/>
            <a:ext cx="2551176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optimization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EXPLAIN / PROFILE to check plans and index use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108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workflow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737360" cy="502920"/>
          </a:xfrm>
          <a:prstGeom prst="rect">
            <a:avLst/>
          </a:prstGeom>
          <a:solidFill>
            <a:srgbClr val="2F3E5A"/>
          </a:solidFill>
          <a:ln w="12700">
            <a:solidFill>
              <a:srgbClr val="2F3E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65760" y="3429000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query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103120" y="3680460"/>
            <a:ext cx="411480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14600" y="3429000"/>
            <a:ext cx="1737360" cy="50292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14600" y="3429000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/ PROFILE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51960" y="3680460"/>
            <a:ext cx="411480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663440" y="3429000"/>
            <a:ext cx="1737360" cy="50292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63440" y="3429000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index / rewrite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0" y="3680460"/>
            <a:ext cx="411480" cy="0"/>
          </a:xfrm>
          <a:prstGeom prst="line">
            <a:avLst/>
          </a:prstGeom>
          <a:noFill/>
          <a:ln w="15875">
            <a:solidFill>
              <a:srgbClr val="6B635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812280" y="3429000"/>
            <a:ext cx="1737360" cy="502920"/>
          </a:xfrm>
          <a:prstGeom prst="rect">
            <a:avLst/>
          </a:prstGeom>
          <a:solidFill>
            <a:srgbClr val="6F8EAE"/>
          </a:solidFill>
          <a:ln w="12700">
            <a:solidFill>
              <a:srgbClr val="6F8EA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12280" y="3429000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</a:t>
            </a:r>
            <a:endParaRPr lang="en-US" sz="9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4864"/>
            <a:ext cx="1188720" cy="707337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4437888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9 · FUTURE TRENDS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Trends / Roadmap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804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release listed on DB-Engines: 3.2.29 (March 2024). Check GitHub for newer versions.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4114800" cy="14630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8912" y="1188720"/>
            <a:ext cx="3968496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development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3.2.x series: maintenance and bug-fix releases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code and issues are public on GitHub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official roadmap for planned features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114800" cy="14630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36592" y="1188720"/>
            <a:ext cx="3968496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trend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combine graph, document and key-value models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was an early example; competitors include Neo4j, ArangoDB, SurrealDB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743200"/>
            <a:ext cx="4114800" cy="14630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8912" y="2788920"/>
            <a:ext cx="3968496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containers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available; Kubernetes deployment possible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cloud offerings are limited compared with MySQL/PostgreSQL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743200"/>
            <a:ext cx="4114800" cy="146304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736592" y="2788920"/>
            <a:ext cx="3968496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knowledge graphs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data helps knowledge graphs and retrieval for AI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+ document storage suits linked, semi-structured data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4805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db-engines.com (Oct 2026). Verify the current status on orientdb.org before presenting.</a:t>
            </a:r>
            <a:endParaRPr lang="en-US" sz="8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54864"/>
            <a:ext cx="731520" cy="731520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3925823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E7A07F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10 · CONCLUSION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BF7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B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5120640" cy="3429000"/>
          </a:xfrm>
          <a:prstGeom prst="rect">
            <a:avLst/>
          </a:prstGeom>
          <a:solidFill>
            <a:srgbClr val="FBF7EC"/>
          </a:solidFill>
          <a:ln w="9525">
            <a:solidFill>
              <a:srgbClr val="5A5E6B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38912" y="960120"/>
            <a:ext cx="4974336" cy="3337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OrientDB is: an open-source multi-model NoSQL DBMS (graph + document) first released in 2010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features: SQL-like language, direct links, ACID transactions, indexes, distributed mode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fast relationship traversal, flexible schema, SQL familiarity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smaller ecosystem, harder distributed setup, less visible roadmap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to: highly connected data (networks, recommendations, fraud). For simple tabular OLTP, MySQL is often the simpler choice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914400"/>
            <a:ext cx="3108960" cy="3429000"/>
          </a:xfrm>
          <a:prstGeom prst="rect">
            <a:avLst/>
          </a:prstGeom>
          <a:solidFill>
            <a:srgbClr val="F6E2A0"/>
          </a:solidFill>
          <a:ln w="9525">
            <a:solidFill>
              <a:srgbClr val="D8B25A"/>
            </a:solidFill>
            <a:prstDash val="solid"/>
          </a:ln>
          <a:effectLst>
            <a:outerShdw dist="38100" dir="2700000" algn="tl" rotWithShape="0">
              <a:srgbClr val="2B2B2F">
                <a:alpha val="2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742432" y="960120"/>
            <a:ext cx="2962656" cy="3337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case study demonstrates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schema design with vertices and edges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CRUD, traversal, MATCH and shortestPath queries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indexes for data integrity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for consistent bookings</a:t>
            </a:r>
            <a:endParaRPr lang="en-US" sz="1100" dirty="0"/>
          </a:p>
        </p:txBody>
      </p:sp>
      <p:sp>
        <p:nvSpPr>
          <p:cNvPr id="901" name="Washi tape"/>
          <p:cNvSpPr/>
          <p:nvPr/>
        </p:nvSpPr>
        <p:spPr>
          <a:xfrm rot="-120000">
            <a:off x="6976872" y="841248"/>
            <a:ext cx="502920" cy="146304"/>
          </a:xfrm>
          <a:prstGeom prst="rect">
            <a:avLst/>
          </a:prstGeom>
          <a:solidFill>
            <a:srgbClr val="D8A431">
              <a:alpha val="70000"/>
            </a:srgbClr>
          </a:solidFill>
          <a:ln>
            <a:noFill/>
          </a:ln>
        </p:spPr>
      </p:sp>
      <p:pic>
        <p:nvPicPr>
          <p:cNvPr id="902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3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54864"/>
            <a:ext cx="1051560" cy="731922"/>
          </a:xfrm>
          <a:prstGeom prst="rect">
            <a:avLst/>
          </a:prstGeom>
        </p:spPr>
      </p:pic>
      <p:pic>
        <p:nvPicPr>
          <p:cNvPr id="904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1706880" cy="7772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0" dirty="0">
                <a:solidFill>
                  <a:srgbClr val="B4553A"/>
                </a:solidFill>
                <a:latin typeface="Ink Free" pitchFamily="34" charset="0"/>
                <a:ea typeface="Ink Free" pitchFamily="34" charset="-122"/>
                <a:cs typeface="Ink Free" pitchFamily="34" charset="-120"/>
              </a:rPr>
              <a:t>11 · REFERENCES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474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Database Case Study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914400"/>
            <a:ext cx="8412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OrientDB. (n.d.). OrientDB manual (version 3.2). https://www.orientdb.com/docs/last/index.html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OrientDB. (n.d.). OrientDB official website. https://orientdb.org/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OrientDB Project. (n.d.). OrientDB source code and issues [GitHub repository]. https://github.com/orientechnologies/orientdb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DB-Engines. (n.d.). OrientDB system properties. https://db-engines.com/en/system/OrientDB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I., Webber, J., &amp; Eifrem, E. (2015). Graph databases (2nd ed.). O'Reilly Media.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Sadalage, P. J., &amp; Fowler, M. (2012). NoSQL distilled. Addison-Wesley.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Silberschatz, A., Korth, H. F., &amp; Sudarshan, S. (2019). Database system concepts (7th ed.). McGraw-Hill.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2B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Corporation. (n.d.). MySQL reference manual. https://dev.mysql.com/doc/</a:t>
            </a:r>
            <a:endParaRPr lang="en-US" sz="1000" dirty="0"/>
          </a:p>
        </p:txBody>
      </p:sp>
      <p:pic>
        <p:nvPicPr>
          <p:cNvPr id="901" name="Flight path doodle" descr="Dotted flight path with a small aeropla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754880"/>
            <a:ext cx="5760720" cy="272876"/>
          </a:xfrm>
          <a:prstGeom prst="rect">
            <a:avLst/>
          </a:prstGeom>
        </p:spPr>
      </p:pic>
      <p:pic>
        <p:nvPicPr>
          <p:cNvPr id="902" name="Margin doodle" descr="Decorative airport dood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4864"/>
            <a:ext cx="1188720" cy="707337"/>
          </a:xfrm>
          <a:prstGeom prst="rect">
            <a:avLst/>
          </a:prstGeom>
        </p:spPr>
      </p:pic>
      <p:pic>
        <p:nvPicPr>
          <p:cNvPr id="903" name="Hand-drawn under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822960"/>
            <a:ext cx="1706880" cy="777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3195</Words>
  <Application>Microsoft Office PowerPoint</Application>
  <PresentationFormat>On-screen Show (16:9)</PresentationFormat>
  <Paragraphs>556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Cambria</vt:lpstr>
      <vt:lpstr>Consolas</vt:lpstr>
      <vt:lpstr>Ink Free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OrientDB Case Study</dc:title>
  <dc:subject>PptxGenJS Presentation</dc:subject>
  <dc:creator>PptxGenJS</dc:creator>
  <cp:lastModifiedBy>Sowmya R</cp:lastModifiedBy>
  <cp:revision>2</cp:revision>
  <dcterms:created xsi:type="dcterms:W3CDTF">2026-10-13T17:46:53Z</dcterms:created>
  <dcterms:modified xsi:type="dcterms:W3CDTF">2026-10-13T20:02:59Z</dcterms:modified>
</cp:coreProperties>
</file>